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2511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Artificial Neural Networks (ANN)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3154680"/>
            <a:ext cx="3200400" cy="36576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33375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-&gt; Ammar Yaser Al-Haroun 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 -&gt; 202312355</a:t>
            </a:r>
          </a:p>
        </p:txBody>
      </p:sp>
      <p:sp>
        <p:nvSpPr>
          <p:cNvPr id="7" name="Shape 5"/>
          <p:cNvSpPr/>
          <p:nvPr/>
        </p:nvSpPr>
        <p:spPr>
          <a:xfrm>
            <a:off x="548640" y="4114800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4F9CF9">
              <a:alpha val="30000"/>
            </a:srgbClr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41148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Problem?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causes billions of dollars in losses worldwide each year.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must automatically detect fraudulent transactions in real time.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challenge: fraud transactions are extremely rare (&lt; 0.2% of all transactions).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02336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63440" y="109728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It Matter?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73736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customers from unauthorized charges.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financial losses for banks and businesses.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models can detect complex fraud patterns that rule-based systems miss.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— Credit Card Fraud Detection  |  </a:t>
            </a:r>
            <a:r>
              <a:rPr lang="en-US" sz="1300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https://www.kaggle.com/datasets/mlg-ulb/creditcardfraud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192024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284,807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1828800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60320" y="1828800"/>
            <a:ext cx="1920240" cy="7315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60320" y="19659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60320" y="27432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Transactions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828800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63440" y="1828800"/>
            <a:ext cx="192024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63440" y="19659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663440" y="27432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66560" y="1828800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766560" y="1828800"/>
            <a:ext cx="1920240" cy="73152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766560" y="19659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766560" y="27432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Description</a:t>
            </a:r>
            <a:endParaRPr lang="en-US" sz="1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794760"/>
          <a:ext cx="8229600" cy="13716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Seconds elapsed since the first transaction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 – V28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PCA-transformed anonymized features (28 columns)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 value in dollars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label: 0 = Normal, 1 = Fraud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Steps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18872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536192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StandardScaler to Amount and Time columns. V1–V28 are already PCA-normalized. Scaling ensures all features are on the same range (mean=0, std=1), which is essential for neural networks.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256032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2560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24231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Class Imbalance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2770632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0.17% of transactions are fraud. We used undersampling: kept all 492 fraud cases and randomly selected 2,460 normal cases (5× ratio). This prevents the model from ignoring fraud.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379476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3794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36576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4005072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balanced dataset: 80% training, 20% testing. Used stratify=y to preserve the fraud ratio in both sets. random_state=42 ensures reproducibility.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Used — Artificial Neural Network (ANN)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Architecture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4114800" cy="2285997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Layer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 Layer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 Layer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Layer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Sigmoid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3"/>
          <p:cNvSpPr/>
          <p:nvPr/>
        </p:nvSpPr>
        <p:spPr>
          <a:xfrm>
            <a:off x="457200" y="37947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Settings</a:t>
            </a:r>
            <a:endParaRPr lang="en-US" sz="14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3738965"/>
              </p:ext>
            </p:extLst>
          </p:nvPr>
        </p:nvGraphicFramePr>
        <p:xfrm>
          <a:off x="1811216" y="3602736"/>
          <a:ext cx="2897944" cy="1737360"/>
        </p:xfrm>
        <a:graphic>
          <a:graphicData uri="http://schemas.openxmlformats.org/drawingml/2006/table">
            <a:tbl>
              <a:tblPr/>
              <a:tblGrid>
                <a:gridCol w="16099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7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7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7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1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Function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Crossentropy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1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(with Early Stopping)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7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846320" y="1005840"/>
            <a:ext cx="38404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4761914" y="998103"/>
            <a:ext cx="384048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4846320" y="10058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Choices?</a:t>
            </a:r>
            <a:endParaRPr lang="en-US" sz="1300" dirty="0"/>
          </a:p>
        </p:txBody>
      </p:sp>
      <p:sp>
        <p:nvSpPr>
          <p:cNvPr id="7" name="Text 7"/>
          <p:cNvSpPr/>
          <p:nvPr/>
        </p:nvSpPr>
        <p:spPr>
          <a:xfrm>
            <a:off x="5029200" y="1554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Activation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029200" y="18288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works well for tabular data. Avoids vanishing gradient.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029200" y="224942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Output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029200" y="252374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0–1 probability. Threshold 0.5 classifies Fraud vs. Normal.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029200" y="29443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(30%)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029200" y="321868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disables neurons during training to prevent overfitting.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029200" y="36393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Optimizer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029200" y="391363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learning rate automatically. Converges faster than SGD.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029200" y="433425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5029200" y="460857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training when validation loss stops improving. Saves time.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92024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~95%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0" y="100584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60320" y="1005840"/>
            <a:ext cx="1920240" cy="64008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60320" y="11430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~93%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560320" y="1920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63440" y="1005840"/>
            <a:ext cx="1920240" cy="64008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63440" y="11430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~94%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663440" y="1920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66560" y="100584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766560" y="1005840"/>
            <a:ext cx="192024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66560" y="11430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~93%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766560" y="1920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2606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Approximate results — actual values depend on training run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926080"/>
            <a:ext cx="40233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2926080"/>
            <a:ext cx="402336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29260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83280"/>
          <a:ext cx="3840480" cy="13716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 Normal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 Fraud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Normal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 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Fraud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 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4754880" y="2926080"/>
            <a:ext cx="39319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4754880" y="2926080"/>
            <a:ext cx="393192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754880" y="29260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892040" y="338328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Recall means fewer fraud transactions are missed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2-layer ANN performs well on this task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prevented overfitting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Undersampling helped the model learn fraud patterns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Conclusion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023360" cy="45720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1691640"/>
            <a:ext cx="274320" cy="274320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05840" y="16002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Class Imbalance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92024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0.17% of data is fraud. Standard training would ignore fraud entirely.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2697480"/>
            <a:ext cx="274320" cy="274320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5840" y="26060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Anonymized Features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292608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V1–V28 are PCA-transformed for privacy, so we cannot interpret them directly.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3703320"/>
            <a:ext cx="274320" cy="274320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36118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Precision vs. Recall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393192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missed fraud (high recall) may increase false alarms (lower precision).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00584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63440" y="1005840"/>
            <a:ext cx="4023360" cy="45720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63440" y="1005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800600" y="1691640"/>
            <a:ext cx="274320" cy="274320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212080" y="16002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12080" y="192024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ANN successfully detects credit card fraud with high accuracy.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00600" y="2697480"/>
            <a:ext cx="274320" cy="274320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212080" y="26060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Technique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12080" y="292608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Undersampling + Dropout + Early Stopping made the model effective and reliable.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3703320"/>
            <a:ext cx="274320" cy="274320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212080" y="36118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Impact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12080" y="393192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approach can protect customers and reduce financial losses in actual banking systems.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612</Words>
  <Application>Microsoft Office PowerPoint</Application>
  <PresentationFormat>On-screen Show (16:9)</PresentationFormat>
  <Paragraphs>136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Card Fraud Detection</dc:title>
  <dc:subject>PptxGenJS Presentation</dc:subject>
  <dc:creator>PptxGenJS</dc:creator>
  <cp:lastModifiedBy>Ammar Al-Haroun</cp:lastModifiedBy>
  <cp:revision>3</cp:revision>
  <dcterms:created xsi:type="dcterms:W3CDTF">2026-04-19T12:51:33Z</dcterms:created>
  <dcterms:modified xsi:type="dcterms:W3CDTF">2026-04-19T13:48:10Z</dcterms:modified>
</cp:coreProperties>
</file>